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  <p:sldId id="268" r:id="rId14"/>
    <p:sldId id="269" r:id="rId15"/>
    <p:sldId id="270" r:id="rId16"/>
    <p:sldId id="271" r:id="rId17"/>
    <p:sldId id="275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6040"/>
    <a:srgbClr val="784C28"/>
    <a:srgbClr val="7A0000"/>
    <a:srgbClr val="8E0000"/>
    <a:srgbClr val="CE201C"/>
    <a:srgbClr val="445B5C"/>
    <a:srgbClr val="351909"/>
    <a:srgbClr val="1A1510"/>
    <a:srgbClr val="53342B"/>
    <a:srgbClr val="46341A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8" autoAdjust="0"/>
    <p:restoredTop sz="94679" autoAdjust="0"/>
  </p:normalViewPr>
  <p:slideViewPr>
    <p:cSldViewPr>
      <p:cViewPr varScale="1">
        <p:scale>
          <a:sx n="65" d="100"/>
          <a:sy n="65" d="100"/>
        </p:scale>
        <p:origin x="-115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2B94C-B903-4D0F-85BC-95635320F589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2980E-B79D-4388-B073-64CA8F2908F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980E-B79D-4388-B073-64CA8F2908F4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A6D11-E474-4E11-BFAB-A1CFEADD2637}" type="datetimeFigureOut">
              <a:rPr lang="ru-RU" smtClean="0"/>
              <a:pPr/>
              <a:t>20.07.2008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C1071-BABB-497E-9982-26989E46886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joystiq.com/2006/09/04/ps3-to-load-games-slower-than-the-xbox-360/2" TargetMode="External"/><Relationship Id="rId3" Type="http://schemas.openxmlformats.org/officeDocument/2006/relationships/image" Target="../media/image8.jpeg"/><Relationship Id="rId7" Type="http://schemas.openxmlformats.org/officeDocument/2006/relationships/hyperlink" Target="http://www.gamesetwatch.com/2007/01/ps3_oblivion_seeing_double_to.php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drizzle.com/~scottb/gdc/its-still-loading.ppt" TargetMode="External"/><Relationship Id="rId5" Type="http://schemas.openxmlformats.org/officeDocument/2006/relationships/hyperlink" Target="http://www.gamasutra.com/view/feature/1769/streaming_for_next_generation_games.php?print=1" TargetMode="External"/><Relationship Id="rId4" Type="http://schemas.openxmlformats.org/officeDocument/2006/relationships/hyperlink" Target="http://www.gamasutra.com/features/gdcarchive/2003/Denman_Stu.p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Documents and Settings\mobile\Local Settings\Temporary Internet Files\Content.IE5\IP0LMH0P\MPj04050040000[1].jpg"/>
          <p:cNvPicPr>
            <a:picLocks noChangeAspect="1" noChangeArrowheads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auto">
          <a:xfrm>
            <a:off x="0" y="381000"/>
            <a:ext cx="9144000" cy="609600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285720" y="1285860"/>
            <a:ext cx="7786742" cy="31393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ContrastingLeftFacing" fov="2700000">
                <a:rot lat="204000" lon="2654988" rev="21389320"/>
              </a:camera>
              <a:lightRig rig="threePt" dir="t"/>
            </a:scene3d>
            <a:sp3d/>
          </a:bodyPr>
          <a:lstStyle/>
          <a:p>
            <a:r>
              <a:rPr lang="ru-RU" sz="6600" b="1" dirty="0" smtClean="0">
                <a:ln w="9525" cap="flat" cmpd="sng">
                  <a:solidFill>
                    <a:schemeClr val="tx1"/>
                  </a:solidFill>
                  <a:round/>
                </a:ln>
                <a:solidFill>
                  <a:schemeClr val="bg1"/>
                </a:solidFill>
                <a:latin typeface="+mj-lt"/>
              </a:rPr>
              <a:t>Стриминг и эффективное чтение с </a:t>
            </a:r>
            <a:r>
              <a:rPr lang="en-US" sz="6600" b="1" dirty="0" smtClean="0">
                <a:ln w="9525" cap="flat" cmpd="sng">
                  <a:solidFill>
                    <a:schemeClr val="tx1"/>
                  </a:solidFill>
                  <a:round/>
                </a:ln>
                <a:solidFill>
                  <a:schemeClr val="bg1"/>
                </a:solidFill>
                <a:latin typeface="+mj-lt"/>
              </a:rPr>
              <a:t>DVD </a:t>
            </a:r>
            <a:r>
              <a:rPr lang="ru-RU" sz="6600" b="1" dirty="0" smtClean="0">
                <a:ln w="9525" cap="flat" cmpd="sng">
                  <a:solidFill>
                    <a:schemeClr val="tx1"/>
                  </a:solidFill>
                  <a:round/>
                </a:ln>
                <a:solidFill>
                  <a:schemeClr val="bg1"/>
                </a:solidFill>
                <a:latin typeface="+mj-lt"/>
              </a:rPr>
              <a:t>диска</a:t>
            </a:r>
            <a:endParaRPr lang="ru-RU" sz="6600" b="1" dirty="0">
              <a:ln w="9525" cap="flat" cmpd="sng">
                <a:solidFill>
                  <a:schemeClr val="tx1"/>
                </a:solidFill>
                <a:round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15108" y="5429264"/>
            <a:ext cx="2428892" cy="923330"/>
          </a:xfrm>
          <a:prstGeom prst="rect">
            <a:avLst/>
          </a:prstGeom>
          <a:solidFill>
            <a:srgbClr val="784C28"/>
          </a:solidFill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Роман Лут,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ведущий программист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Deep Shadows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C:\Documents and Settings\mobile\Local Settings\Temporary Internet Files\Content.IE5\ELIJ0VUD\MPj0315558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Что такое стриминг?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20" y="1357298"/>
            <a:ext cx="8572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загрузка ресурсов на фоне к тому моменту, когда они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понадобятся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ru-RU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Documents and Settings\mobile\Local Settings\Temporary Internet Files\Content.IE5\WV6ZOJ4D\MPj0406815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Зачем нужен стриминг?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720" y="1357298"/>
            <a:ext cx="828680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большие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детализированные игровые миры, все ресурсы которых не помещаются в оперативную память - в памяти находится только «активный»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контент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непрерывный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геймплей – отсутствие экранов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загрузки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сокращение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времени начальной загрузки (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New game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)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преодоление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технических ограничений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консолей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преодоление проблем медленных устройств хранения  (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DVD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, сетевое соединение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)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ru-RU" sz="2800" dirty="0" smtClean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Documents and Settings\mobile\Local Settings\Temporary Internet Files\Content.IE5\M5GLQHG7\MPj040180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Что можно стримить?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20" y="1357298"/>
            <a:ext cx="8572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текстуры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звуки, музыка</a:t>
            </a: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модели</a:t>
            </a: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уровни</a:t>
            </a: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анимация</a:t>
            </a:r>
          </a:p>
          <a:p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collision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mesh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видео</a:t>
            </a: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и т.д.</a:t>
            </a:r>
          </a:p>
          <a:p>
            <a:endParaRPr lang="ru-RU" sz="28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Documents and Settings\mobile\Local Settings\Temporary Internet Files\Content.IE5\M5GLQHG7\MPj0399083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Что включает в себя поддержка </a:t>
            </a:r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стриминга</a:t>
            </a:r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?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2214554"/>
            <a:ext cx="85725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возможность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загружать ресурсы на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фоне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ориентацию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«движка»  на асинхронную работу с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ресурсами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стратегию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предварительной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загрузки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стратегию выгрузки ресурсов при недостатке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памяти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Documents and Settings\mobile\Local Settings\Temporary Internet Files\Content.IE5\IP0LMH0P\MPj0410045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Классический (линейный) стриминг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2000240"/>
            <a:ext cx="8572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- гоночный симулятор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00694" y="1357298"/>
            <a:ext cx="2714644" cy="4066510"/>
          </a:xfrm>
          <a:prstGeom prst="rect">
            <a:avLst/>
          </a:prstGeom>
          <a:noFill/>
          <a:effectLst/>
        </p:spPr>
      </p:pic>
      <p:sp>
        <p:nvSpPr>
          <p:cNvPr id="6" name="Rectangle 5"/>
          <p:cNvSpPr/>
          <p:nvPr/>
        </p:nvSpPr>
        <p:spPr>
          <a:xfrm>
            <a:off x="1928794" y="4500570"/>
            <a:ext cx="1071570" cy="42862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3500430" y="5929330"/>
            <a:ext cx="785818" cy="35719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3000364" y="4500570"/>
            <a:ext cx="1071570" cy="42862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Down Arrow 8"/>
          <p:cNvSpPr/>
          <p:nvPr/>
        </p:nvSpPr>
        <p:spPr>
          <a:xfrm rot="20969405" flipH="1" flipV="1">
            <a:off x="3625070" y="4951221"/>
            <a:ext cx="445228" cy="8147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5072066" y="5929330"/>
            <a:ext cx="785818" cy="35719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4286248" y="5929330"/>
            <a:ext cx="785818" cy="35719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857884" y="5929330"/>
            <a:ext cx="785818" cy="35719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714480" y="3571876"/>
            <a:ext cx="1285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latin typeface="Arial Narrow" pitchFamily="34" charset="0"/>
              </a:rPr>
              <a:t>Текущая зона</a:t>
            </a:r>
            <a:endParaRPr lang="ru-RU" sz="24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5429264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Arial Narrow" pitchFamily="34" charset="0"/>
              </a:rPr>
              <a:t>DVD</a:t>
            </a:r>
            <a:endParaRPr lang="ru-RU" sz="24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28926" y="3571876"/>
            <a:ext cx="1643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latin typeface="Arial Narrow" pitchFamily="34" charset="0"/>
              </a:rPr>
              <a:t>Следующая зона</a:t>
            </a:r>
            <a:endParaRPr lang="ru-RU" sz="24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85786" y="4500570"/>
            <a:ext cx="1143008" cy="42862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285720" y="3571876"/>
            <a:ext cx="1428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latin typeface="Arial Narrow" pitchFamily="34" charset="0"/>
              </a:rPr>
              <a:t>Предыду-щая </a:t>
            </a:r>
            <a:r>
              <a:rPr lang="ru-RU" sz="2400" dirty="0" smtClean="0">
                <a:solidFill>
                  <a:schemeClr val="bg1"/>
                </a:solidFill>
                <a:latin typeface="Arial Narrow" pitchFamily="34" charset="0"/>
              </a:rPr>
              <a:t>зона</a:t>
            </a:r>
            <a:endParaRPr lang="ru-RU" sz="24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Documents and Settings\mobile\Local Settings\Temporary Internet Files\Content.IE5\WV6ZOJ4D\MPj040197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57158" y="285728"/>
            <a:ext cx="83582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Огромный мир – игрок может идти в любую сторону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58" y="2071678"/>
            <a:ext cx="85725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разделение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на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зоны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 данный момент в</a:t>
            </a:r>
            <a:b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памяти находится</a:t>
            </a:r>
            <a:b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«активная» зона и ее</a:t>
            </a:r>
            <a:b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</a:b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ближайшие соседи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Пример: 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GTAIII, Oblivion,</a:t>
            </a: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Gothic, Operation “Flashpoint”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pic>
        <p:nvPicPr>
          <p:cNvPr id="7172" name="Picture 4" descr="C:\Documents and Settings\mobile\Local Settings\Temporary Internet Files\Content.IE5\M5GLQHG7\MCj04343230000[1]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4810" y="2143116"/>
            <a:ext cx="4584700" cy="43275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C:\Documents and Settings\mobile\Local Settings\Temporary Internet Files\Content.IE5\ELIJ0VUD\MPj0315558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Уникальные и </a:t>
            </a:r>
            <a:r>
              <a:rPr lang="en-US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shared </a:t>
            </a:r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ресусы</a:t>
            </a:r>
            <a:endParaRPr lang="ru-RU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84296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Стратегия 1.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Все ресурсы одной зоны – уникальны.</a:t>
            </a: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приводит к дублированию одинаковых ресурсов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в памяти и на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DVD</a:t>
            </a: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увеличивается размер зоны в памяти</a:t>
            </a: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увеличивается размер игры на диске</a:t>
            </a: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увеличивается объем данных зоны</a:t>
            </a:r>
          </a:p>
          <a:p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+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более эффективное чтение с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DVD</a:t>
            </a: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34" y="4929198"/>
            <a:ext cx="278608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Данные зоны 1</a:t>
            </a:r>
            <a:endParaRPr lang="ru-RU" dirty="0">
              <a:ln w="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86116" y="4929198"/>
            <a:ext cx="1643074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А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29190" y="4929198"/>
            <a:ext cx="1571636" cy="35719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Б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00826" y="4929198"/>
            <a:ext cx="1500198" cy="35719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В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0034" y="5715016"/>
            <a:ext cx="2786082" cy="35719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Данные зоны 2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86116" y="5715016"/>
            <a:ext cx="1643074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А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29190" y="5715016"/>
            <a:ext cx="1571636" cy="35719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Г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00826" y="5715016"/>
            <a:ext cx="1500198" cy="35719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Д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Documents and Settings\mobile\Local Settings\Temporary Internet Files\Content.IE5\M5GLQHG7\MPj040180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Уникальные и </a:t>
            </a:r>
            <a:r>
              <a:rPr lang="en-US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shared </a:t>
            </a:r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ресурсы</a:t>
            </a:r>
            <a:endParaRPr lang="ru-RU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142984"/>
            <a:ext cx="842968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7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Стратегия 2.</a:t>
            </a:r>
            <a:r>
              <a:rPr lang="ru-RU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Некоторые типы ресурсов – общие (</a:t>
            </a:r>
            <a:r>
              <a:rPr lang="en-US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shared)</a:t>
            </a:r>
            <a:r>
              <a:rPr lang="ru-RU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.</a:t>
            </a:r>
            <a:r>
              <a:rPr lang="en-US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Shared </a:t>
            </a:r>
            <a:r>
              <a:rPr lang="ru-RU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ресурсы загружаются при загрузке следующей зоны (если еще не загружены). Зона увеличивает </a:t>
            </a:r>
            <a:r>
              <a:rPr lang="en-US" sz="27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refCount</a:t>
            </a:r>
            <a:r>
              <a:rPr lang="en-US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  <a:r>
              <a:rPr lang="ru-RU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ресурса.</a:t>
            </a:r>
            <a:r>
              <a:rPr lang="en-US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34" y="4714884"/>
            <a:ext cx="82868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+ позволяет сэкономить память</a:t>
            </a:r>
          </a:p>
          <a:p>
            <a:r>
              <a:rPr lang="ru-RU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+ уменьшается объем загружаемых данных зоны</a:t>
            </a:r>
            <a:endParaRPr lang="en-US" sz="27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  <a:p>
            <a:pPr>
              <a:buFontTx/>
              <a:buChar char="-"/>
            </a:pPr>
            <a:r>
              <a:rPr lang="ru-RU" sz="2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  <a:r>
              <a:rPr lang="ru-RU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приводит к фрагментации памяти</a:t>
            </a:r>
          </a:p>
          <a:p>
            <a:pPr>
              <a:buFontTx/>
              <a:buChar char="-"/>
            </a:pPr>
            <a:r>
              <a:rPr lang="ru-RU" sz="2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  <a:r>
              <a:rPr lang="ru-RU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недетерминированный порядок чтения </a:t>
            </a:r>
            <a:r>
              <a:rPr lang="en-US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(</a:t>
            </a:r>
            <a:r>
              <a:rPr lang="ru-RU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много </a:t>
            </a:r>
            <a:r>
              <a:rPr lang="en-US" sz="27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DVD Seek)</a:t>
            </a:r>
            <a:endParaRPr lang="ru-RU" sz="27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472" y="2857496"/>
            <a:ext cx="278608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Данные зоны 1</a:t>
            </a:r>
            <a:endParaRPr lang="ru-RU" dirty="0">
              <a:ln w="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5074" y="2643182"/>
            <a:ext cx="157163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А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5074" y="3000372"/>
            <a:ext cx="1571636" cy="35719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Б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5074" y="3357562"/>
            <a:ext cx="1571636" cy="35719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В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472" y="3786190"/>
            <a:ext cx="2786082" cy="35719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Данные зоны 2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5074" y="3714752"/>
            <a:ext cx="1571636" cy="35719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Г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15074" y="4071942"/>
            <a:ext cx="1571636" cy="35719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Д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26" name="Straight Arrow Connector 25"/>
          <p:cNvCxnSpPr>
            <a:stCxn id="16" idx="3"/>
            <a:endCxn id="17" idx="1"/>
          </p:cNvCxnSpPr>
          <p:nvPr/>
        </p:nvCxnSpPr>
        <p:spPr>
          <a:xfrm flipV="1">
            <a:off x="3357554" y="2821777"/>
            <a:ext cx="2857520" cy="214314"/>
          </a:xfrm>
          <a:prstGeom prst="straightConnector1">
            <a:avLst/>
          </a:prstGeom>
          <a:ln w="444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6" idx="3"/>
          </p:cNvCxnSpPr>
          <p:nvPr/>
        </p:nvCxnSpPr>
        <p:spPr>
          <a:xfrm>
            <a:off x="3357554" y="3036091"/>
            <a:ext cx="2857520" cy="464347"/>
          </a:xfrm>
          <a:prstGeom prst="straightConnector1">
            <a:avLst/>
          </a:prstGeom>
          <a:ln w="444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6" idx="3"/>
            <a:endCxn id="18" idx="1"/>
          </p:cNvCxnSpPr>
          <p:nvPr/>
        </p:nvCxnSpPr>
        <p:spPr>
          <a:xfrm>
            <a:off x="3357554" y="3036091"/>
            <a:ext cx="2857520" cy="142876"/>
          </a:xfrm>
          <a:prstGeom prst="straightConnector1">
            <a:avLst/>
          </a:prstGeom>
          <a:ln w="444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0" idx="3"/>
            <a:endCxn id="22" idx="1"/>
          </p:cNvCxnSpPr>
          <p:nvPr/>
        </p:nvCxnSpPr>
        <p:spPr>
          <a:xfrm flipV="1">
            <a:off x="3357554" y="3893347"/>
            <a:ext cx="2857520" cy="71438"/>
          </a:xfrm>
          <a:prstGeom prst="straightConnector1">
            <a:avLst/>
          </a:prstGeom>
          <a:ln w="444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0" idx="3"/>
            <a:endCxn id="23" idx="1"/>
          </p:cNvCxnSpPr>
          <p:nvPr/>
        </p:nvCxnSpPr>
        <p:spPr>
          <a:xfrm>
            <a:off x="3357554" y="3964785"/>
            <a:ext cx="2857520" cy="285752"/>
          </a:xfrm>
          <a:prstGeom prst="straightConnector1">
            <a:avLst/>
          </a:prstGeom>
          <a:ln w="444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0" idx="3"/>
            <a:endCxn id="17" idx="1"/>
          </p:cNvCxnSpPr>
          <p:nvPr/>
        </p:nvCxnSpPr>
        <p:spPr>
          <a:xfrm flipV="1">
            <a:off x="3357554" y="2821777"/>
            <a:ext cx="2857520" cy="1143008"/>
          </a:xfrm>
          <a:prstGeom prst="straightConnector1">
            <a:avLst/>
          </a:prstGeom>
          <a:ln w="444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mobile\Local Settings\Temporary Internet Files\Content.IE5\M5GLQHG7\MPj040180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Уникальные и </a:t>
            </a:r>
            <a:r>
              <a:rPr lang="en-US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shared </a:t>
            </a:r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ресурсы</a:t>
            </a:r>
            <a:endParaRPr lang="ru-RU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142984"/>
            <a:ext cx="84296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Стратегия 3.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Некоторые ресурсы – общие (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shared)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.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Независимый кеш.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Shared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ресурсы загружаются по надобности.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4786322"/>
            <a:ext cx="82868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+ позволяет больше сэкономить память</a:t>
            </a:r>
          </a:p>
          <a:p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+ больше уменьшается объем загружаемых данных зоны</a:t>
            </a:r>
          </a:p>
          <a:p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  <a:p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                                                                             дальше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472" y="3000372"/>
            <a:ext cx="278608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Данные зоны 1</a:t>
            </a:r>
            <a:endParaRPr lang="ru-RU" dirty="0">
              <a:ln w="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5074" y="2786058"/>
            <a:ext cx="157163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А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5074" y="3143248"/>
            <a:ext cx="1571636" cy="35719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Б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5074" y="3500438"/>
            <a:ext cx="1571636" cy="35719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В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1472" y="3929066"/>
            <a:ext cx="2786082" cy="35719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Данные зоны 2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5074" y="3857628"/>
            <a:ext cx="1571636" cy="35719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Г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5074" y="4214818"/>
            <a:ext cx="1571636" cy="35719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Текстура Д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43636" y="2285992"/>
            <a:ext cx="1785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Кэш текстур</a:t>
            </a:r>
            <a:endParaRPr lang="ru-RU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8072462" y="6215082"/>
            <a:ext cx="571504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mobile\Local Settings\Temporary Internet Files\Content.IE5\M5GLQHG7\MPj0399083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7158" y="285728"/>
            <a:ext cx="835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Уникальные и </a:t>
            </a:r>
            <a:r>
              <a:rPr lang="en-US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shared </a:t>
            </a:r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ресурсы</a:t>
            </a:r>
            <a:endParaRPr lang="ru-RU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142984"/>
            <a:ext cx="84296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Стратегия 3 (продолжение)</a:t>
            </a: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приводит к фрагментации памяти</a:t>
            </a: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недетерминированный порядок чтения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(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много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DVD Seek)</a:t>
            </a: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  <a:p>
            <a:pPr>
              <a:buFontTx/>
              <a:buChar char="-"/>
            </a:pP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сложная логика взаимодействия кешей:</a:t>
            </a:r>
            <a:endParaRPr lang="ru-RU" sz="2800" dirty="0" smtClean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  <a:p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72132" y="5500702"/>
            <a:ext cx="278608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n w="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Данные зоны 1</a:t>
            </a:r>
            <a:endParaRPr lang="ru-RU" dirty="0">
              <a:ln w="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72132" y="3643314"/>
            <a:ext cx="2071702" cy="5000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Кеш ресурсов А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72132" y="4286256"/>
            <a:ext cx="2071702" cy="35719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Кеш ресурсов Б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72132" y="4786322"/>
            <a:ext cx="2071702" cy="57150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Кеш ресурсов В</a:t>
            </a:r>
            <a:endParaRPr lang="ru-RU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572132" y="6000768"/>
            <a:ext cx="2786082" cy="214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 w="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0034" y="3571876"/>
            <a:ext cx="4214842" cy="120032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Для загрузки зоны 2 недостаточно памяти. Какой из кешей должен освободить память?</a:t>
            </a:r>
            <a:endParaRPr lang="en-US" sz="28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0034" y="5143512"/>
            <a:ext cx="45005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Arial Unicode MS" pitchFamily="34" charset="-128"/>
                <a:cs typeface="Tunga" pitchFamily="2"/>
              </a:rPr>
              <a:t>- невозможно сформировать четкие требования к объему арта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C:\Documents and Settings\mobile\Local Settings\Temporary Internet Files\Content.IE5\ELIJ0VUD\MPj0315558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Класс</a:t>
            </a:r>
            <a:r>
              <a:rPr 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 </a:t>
            </a:r>
            <a:r>
              <a:rPr lang="en-US" sz="4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Streamable</a:t>
            </a:r>
            <a:r>
              <a:rPr 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 </a:t>
            </a:r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resource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357298"/>
            <a:ext cx="85725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состояние: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не загружен, загружен, загружается в данный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момент</a:t>
            </a:r>
          </a:p>
          <a:p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метод </a:t>
            </a:r>
            <a:r>
              <a:rPr 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StartBackgroundLoad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()</a:t>
            </a: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метод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Unload()</a:t>
            </a: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поле: приоритет</a:t>
            </a:r>
          </a:p>
          <a:p>
            <a:r>
              <a:rPr lang="ru-RU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---------------------------- для общих ресурсов ----------------------</a:t>
            </a:r>
            <a:endParaRPr lang="ru-RU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поле </a:t>
            </a:r>
            <a:r>
              <a:rPr 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refCount</a:t>
            </a: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----------------- для общих независимых ресурсов ---------------</a:t>
            </a: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поле: </a:t>
            </a:r>
            <a:r>
              <a:rPr 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lastUsedOnFrame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- «последний раз использовался на кадре»</a:t>
            </a:r>
          </a:p>
          <a:p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Documents and Settings\mobile\Local Settings\Temporary Internet Files\Content.IE5\WV6ZOJ4D\MPj040197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Эффективное чтение на фоне</a:t>
            </a:r>
            <a:endParaRPr lang="ru-RU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85011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hardware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thread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для чтения данных(99% времени блокирован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I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/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O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операцией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)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hardware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thread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для распаковки, создания и инициализации ресурсов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)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финализация ресурсов в основном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thread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между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кадрами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8860" y="4500570"/>
            <a:ext cx="6500858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500034" y="4500570"/>
            <a:ext cx="1928826" cy="285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Loading thread</a:t>
            </a:r>
            <a:endParaRPr lang="ru-RU" dirty="0"/>
          </a:p>
        </p:txBody>
      </p:sp>
      <p:sp>
        <p:nvSpPr>
          <p:cNvPr id="8" name="Rectangle 7"/>
          <p:cNvSpPr/>
          <p:nvPr/>
        </p:nvSpPr>
        <p:spPr>
          <a:xfrm>
            <a:off x="2428860" y="5143512"/>
            <a:ext cx="6500858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500034" y="5143512"/>
            <a:ext cx="1928826" cy="285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 thread</a:t>
            </a:r>
            <a:endParaRPr lang="ru-RU" dirty="0"/>
          </a:p>
        </p:txBody>
      </p:sp>
      <p:sp>
        <p:nvSpPr>
          <p:cNvPr id="10" name="Rectangle 9"/>
          <p:cNvSpPr/>
          <p:nvPr/>
        </p:nvSpPr>
        <p:spPr>
          <a:xfrm>
            <a:off x="2428860" y="5786454"/>
            <a:ext cx="6500858" cy="2857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500034" y="5786454"/>
            <a:ext cx="1928826" cy="28575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Main thread</a:t>
            </a:r>
            <a:endParaRPr lang="ru-RU" dirty="0"/>
          </a:p>
        </p:txBody>
      </p:sp>
      <p:sp>
        <p:nvSpPr>
          <p:cNvPr id="12" name="Rectangle 11"/>
          <p:cNvSpPr/>
          <p:nvPr/>
        </p:nvSpPr>
        <p:spPr>
          <a:xfrm>
            <a:off x="2643174" y="4500570"/>
            <a:ext cx="142876" cy="2857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2786050" y="5143512"/>
            <a:ext cx="928694" cy="2857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3000364" y="4500570"/>
            <a:ext cx="142876" cy="2857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14"/>
          <p:cNvSpPr/>
          <p:nvPr/>
        </p:nvSpPr>
        <p:spPr>
          <a:xfrm>
            <a:off x="4000496" y="4500570"/>
            <a:ext cx="142876" cy="2857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4714876" y="4500570"/>
            <a:ext cx="142876" cy="2857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/>
          <p:cNvSpPr/>
          <p:nvPr/>
        </p:nvSpPr>
        <p:spPr>
          <a:xfrm>
            <a:off x="5500694" y="4500570"/>
            <a:ext cx="142876" cy="2857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17"/>
          <p:cNvSpPr/>
          <p:nvPr/>
        </p:nvSpPr>
        <p:spPr>
          <a:xfrm>
            <a:off x="5786446" y="4500570"/>
            <a:ext cx="142876" cy="2857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4143372" y="5143512"/>
            <a:ext cx="2857520" cy="2857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3286116" y="5143512"/>
            <a:ext cx="500066" cy="2857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 21"/>
          <p:cNvSpPr/>
          <p:nvPr/>
        </p:nvSpPr>
        <p:spPr>
          <a:xfrm>
            <a:off x="4643438" y="5143512"/>
            <a:ext cx="1000132" cy="2857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ectangle 22"/>
          <p:cNvSpPr/>
          <p:nvPr/>
        </p:nvSpPr>
        <p:spPr>
          <a:xfrm>
            <a:off x="6143636" y="5143512"/>
            <a:ext cx="1214446" cy="2857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Rectangle 23"/>
          <p:cNvSpPr/>
          <p:nvPr/>
        </p:nvSpPr>
        <p:spPr>
          <a:xfrm>
            <a:off x="4357686" y="5786454"/>
            <a:ext cx="142876" cy="2857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Straight Connector 26"/>
          <p:cNvCxnSpPr/>
          <p:nvPr/>
        </p:nvCxnSpPr>
        <p:spPr>
          <a:xfrm rot="5400000" flipH="1" flipV="1">
            <a:off x="3286910" y="5071280"/>
            <a:ext cx="2428892" cy="1588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643834" y="5786454"/>
            <a:ext cx="142876" cy="2857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Straight Connector 27"/>
          <p:cNvCxnSpPr/>
          <p:nvPr/>
        </p:nvCxnSpPr>
        <p:spPr>
          <a:xfrm rot="5400000" flipH="1" flipV="1">
            <a:off x="6573058" y="5071280"/>
            <a:ext cx="2428892" cy="1588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357554" y="3929066"/>
            <a:ext cx="10001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кадр </a:t>
            </a:r>
            <a:r>
              <a:rPr lang="en-US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N</a:t>
            </a:r>
            <a:endParaRPr lang="ru-RU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57950" y="3929066"/>
            <a:ext cx="12858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кадр </a:t>
            </a:r>
            <a:r>
              <a:rPr lang="en-US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N</a:t>
            </a:r>
            <a:r>
              <a:rPr lang="ru-RU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+1</a:t>
            </a:r>
            <a:endParaRPr lang="ru-RU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Documents and Settings\mobile\Local Settings\Temporary Internet Files\Content.IE5\WV6ZOJ4D\MPj0406815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Стратегии предварительной загрузки ресурсов зоны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2000240"/>
            <a:ext cx="80724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при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приближении к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зоне – по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расстоянию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по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видимости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по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тригерам,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установленным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дизайнерами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вручную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Для независимых кешей: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на основе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статистики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различные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эвристики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mobile\Local Settings\Temporary Internet Files\Content.IE5\M5GLQHG7\MPj040180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Пока ресурс не загрузился</a:t>
            </a:r>
            <a:endParaRPr lang="ru-RU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142984"/>
            <a:ext cx="84296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используется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dummy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-ресурс (например, уменьшенная версия текстуры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)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dummy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-ресурс должен быть в памяти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всегда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или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объект просто не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отображается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для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некоторых типов ресурсов невожножно создать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dummy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-ресурс: звуки,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collision mesh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. Эти ресурсы должны быть в памяти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всегда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возможное решение: хранить в памяти упакованную версию такого ресурса, распаковывать при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необходимости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mobile\Local Settings\Temporary Internet Files\Content.IE5\M5GLQHG7\MPj0399083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14290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Dummy</a:t>
            </a:r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-ресурсы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021282"/>
            <a:ext cx="84296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текстура – уменьшенная версия, 32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x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32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DXT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1 = ~700 байт (на самом деле больше из-за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layout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)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модель – спрайт/нижний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LOD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/не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отображается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звук – моно, низкий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битрейт/упакованный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/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НЕТ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уровень –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НЕТ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музыка – не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проигрывается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анимация –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НЕТ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collision mesh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–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НЕТ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если ресурс понадобился, а его нет в памяти – возникает провал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FPS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если сложно/невозможно реализовать стратегию предварительной загрузки для данного типа ресурса – нельзя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использовать загрузку по надобности.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mobile\Local Settings\Temporary Internet Files\Content.IE5\M5GLQHG7\MPj0399083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Фрагментация памяти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428736"/>
            <a:ext cx="85725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актуально для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XBOX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,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PS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2,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PS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3,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Nintendo DS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, </a:t>
            </a:r>
            <a:r>
              <a:rPr 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Wii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Windows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,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XBOX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360 –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не актуально (виртуальная память, нет фрагментации физической памяти)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 </a:t>
            </a: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Решения: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зона – линейный блок,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in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place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construction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р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азделение памяти на зоны для разных типов ресурсов,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custom allocators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сборка мусора (возможна только при использовании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ref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pointers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)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Documents and Settings\mobile\Local Settings\Temporary Internet Files\Content.IE5\ELIJ0VUD\MPj0315558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57158" y="142852"/>
            <a:ext cx="83582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Насколько большой может быть </a:t>
            </a:r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зона</a:t>
            </a:r>
            <a:r>
              <a:rPr 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?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928802"/>
            <a:ext cx="85725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все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«активные» зоны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и их общие ресурсы должны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помещаться в оперативную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память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если зоны загружаются в слоты,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объем зоны лимитируется размером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слота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скорость движения игрока: зоны должны успевать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загружаться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Documents and Settings\mobile\Local Settings\Temporary Internet Files\Content.IE5\WV6ZOJ4D\MPj040197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142852"/>
            <a:ext cx="83582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Насколько большой может быть зона</a:t>
            </a:r>
            <a:r>
              <a:rPr 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?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785926"/>
            <a:ext cx="550072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сегмент дороги – 0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.5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км</a:t>
            </a: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скорость машины – 100км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/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час</a:t>
            </a:r>
          </a:p>
          <a:p>
            <a:pPr>
              <a:buFontTx/>
              <a:buChar char="-"/>
            </a:pP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следующий сегмент уже должен быть в памяти, когда до него 0.1 км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есть примерно 14,5 сек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скорость чтения с диска – 6Мб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/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сек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</a:t>
            </a:r>
            <a:r>
              <a:rPr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размер зоны – 87МБ 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MAX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2000240"/>
            <a:ext cx="2786082" cy="417352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Documents and Settings\mobile\Local Settings\Temporary Internet Files\Content.IE5\M5GLQHG7\MPj040180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57158" y="285728"/>
            <a:ext cx="83582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Физические характеристики </a:t>
            </a:r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HDD</a:t>
            </a:r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/</a:t>
            </a:r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DVD</a:t>
            </a:r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/</a:t>
            </a:r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Blue Ray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0034" y="2071678"/>
          <a:ext cx="8072498" cy="381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796"/>
                <a:gridCol w="1509962"/>
                <a:gridCol w="1509962"/>
                <a:gridCol w="1568040"/>
                <a:gridCol w="1335738"/>
              </a:tblGrid>
              <a:tr h="57150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SATA</a:t>
                      </a:r>
                      <a:r>
                        <a:rPr lang="en-US" baseline="0" dirty="0" smtClean="0"/>
                        <a:t> HDD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PC DVD</a:t>
                      </a:r>
                      <a:endParaRPr lang="ru-RU" dirty="0" smtClean="0"/>
                    </a:p>
                    <a:p>
                      <a:pPr algn="ctr"/>
                      <a:r>
                        <a:rPr lang="en-US" dirty="0" smtClean="0"/>
                        <a:t>12x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XBOX 360 DL-DVD</a:t>
                      </a:r>
                    </a:p>
                    <a:p>
                      <a:pPr algn="ctr"/>
                      <a:r>
                        <a:rPr lang="en-US" dirty="0" smtClean="0"/>
                        <a:t>12x CAV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PS3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Blu</a:t>
                      </a:r>
                      <a:r>
                        <a:rPr lang="en-US" baseline="0" dirty="0" smtClean="0"/>
                        <a:t>-Ray</a:t>
                      </a:r>
                    </a:p>
                    <a:p>
                      <a:pPr algn="ctr"/>
                      <a:r>
                        <a:rPr lang="en-US" baseline="0" dirty="0" smtClean="0"/>
                        <a:t>2x CLV</a:t>
                      </a:r>
                      <a:endParaRPr lang="ru-RU" dirty="0"/>
                    </a:p>
                  </a:txBody>
                  <a:tcPr anchor="ctr"/>
                </a:tc>
              </a:tr>
              <a:tr h="564031">
                <a:tc>
                  <a:txBody>
                    <a:bodyPr/>
                    <a:lstStyle/>
                    <a:p>
                      <a:r>
                        <a:rPr lang="en-US" dirty="0" smtClean="0"/>
                        <a:t>Reading speed,</a:t>
                      </a:r>
                      <a:r>
                        <a:rPr lang="en-US" baseline="0" dirty="0" smtClean="0"/>
                        <a:t> Mb/s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30-60Mb/s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8-16Mb/s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8-16Mb/s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9Mb/s</a:t>
                      </a:r>
                      <a:endParaRPr lang="ru-RU" dirty="0"/>
                    </a:p>
                  </a:txBody>
                  <a:tcPr anchor="ctr"/>
                </a:tc>
              </a:tr>
              <a:tr h="564031">
                <a:tc>
                  <a:txBody>
                    <a:bodyPr/>
                    <a:lstStyle/>
                    <a:p>
                      <a:r>
                        <a:rPr lang="en-US" dirty="0" smtClean="0"/>
                        <a:t>Full stroke</a:t>
                      </a:r>
                      <a:r>
                        <a:rPr lang="en-US" baseline="0" dirty="0" smtClean="0"/>
                        <a:t> seek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170-230ms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350-400ms</a:t>
                      </a:r>
                      <a:endParaRPr lang="ru-RU" dirty="0"/>
                    </a:p>
                  </a:txBody>
                  <a:tcPr anchor="ctr"/>
                </a:tc>
              </a:tr>
              <a:tr h="564031">
                <a:tc>
                  <a:txBody>
                    <a:bodyPr/>
                    <a:lstStyle/>
                    <a:p>
                      <a:r>
                        <a:rPr lang="en-US" dirty="0" smtClean="0"/>
                        <a:t>1/3 stroke seek</a:t>
                      </a:r>
                    </a:p>
                    <a:p>
                      <a:r>
                        <a:rPr lang="en-US" dirty="0" smtClean="0"/>
                        <a:t>(random seek)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7-20ms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110-150ms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50-100ms</a:t>
                      </a:r>
                      <a:endParaRPr lang="ru-RU" dirty="0"/>
                    </a:p>
                  </a:txBody>
                  <a:tcPr anchor="ctr"/>
                </a:tc>
              </a:tr>
              <a:tr h="564031">
                <a:tc>
                  <a:txBody>
                    <a:bodyPr/>
                    <a:lstStyle/>
                    <a:p>
                      <a:r>
                        <a:rPr lang="en-US" dirty="0" smtClean="0"/>
                        <a:t>Layer change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?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75ms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ru-RU" dirty="0"/>
                    </a:p>
                  </a:txBody>
                  <a:tcPr anchor="ctr"/>
                </a:tc>
              </a:tr>
              <a:tr h="564031">
                <a:tc>
                  <a:txBody>
                    <a:bodyPr/>
                    <a:lstStyle/>
                    <a:p>
                      <a:r>
                        <a:rPr lang="en-US" dirty="0" smtClean="0"/>
                        <a:t>Spin</a:t>
                      </a:r>
                      <a:r>
                        <a:rPr lang="en-US" baseline="0" dirty="0" smtClean="0"/>
                        <a:t> Up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2800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2000ms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???</a:t>
                      </a:r>
                      <a:endParaRPr lang="ru-RU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034" y="5857892"/>
            <a:ext cx="8072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http://forum.beyond3d.com/showthread.php?t=37751</a:t>
            </a:r>
            <a:endParaRPr lang="ru-RU" sz="24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Documents and Settings\mobile\Local Settings\Temporary Internet Files\Content.IE5\WV6ZOJ4D\MPj0406815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Загрузка с </a:t>
            </a:r>
            <a:r>
              <a:rPr 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DVD</a:t>
            </a:r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- пример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643050"/>
            <a:ext cx="80724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средняя скорость –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12 Mb/s</a:t>
            </a:r>
          </a:p>
          <a:p>
            <a:pPr>
              <a:buFontTx/>
              <a:buChar char="-"/>
            </a:pP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seek 120ms = 12*0.12 = 1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.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44 Mb/s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потеряно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seek+layer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change (200ms) = 2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.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4MB/s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потеряно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Spin up – 2sek = 24Mb/s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потеряно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3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seek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на чтение 0.5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MB:</a:t>
            </a:r>
          </a:p>
          <a:p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   </a:t>
            </a:r>
            <a:r>
              <a:rPr lang="ru-RU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скорость: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7.68Mb/s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mobile\Local Settings\Temporary Internet Files\Content.IE5\M5GLQHG7\MPj0399083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Оптимизация чтения с </a:t>
            </a:r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DVD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428736"/>
            <a:ext cx="8572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основная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задача при чтении с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DVD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/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Blue Ray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– минимизация количества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Seek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компрессия ресурсов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групповые файлы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(DVD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сектор – 2Кб)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кеширование на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HDD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Documents and Settings\mobile\Local Settings\Temporary Internet Files\Content.IE5\WV6ZOJ4D\MPj040197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142852"/>
            <a:ext cx="835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Минимизация количества </a:t>
            </a:r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Seek</a:t>
            </a:r>
            <a:endParaRPr lang="ru-RU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285860"/>
            <a:ext cx="84296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все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ресурсы зоны – один линейный блок(Файлы), дубликаты ресурсов в разных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блоках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максимально эффективное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чтение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расположить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зависимые файлы близко друг к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другу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«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перетасовка» очереди загрузки для минимизации длины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Seek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групповые файлы – не нужно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seek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на каталог, файлы расположены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вплотную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C:\Documents and Settings\mobile\Local Settings\Temporary Internet Files\Content.IE5\ELIJ0VUD\MPj0315558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</a:rPr>
              <a:t>Компрессия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357298"/>
            <a:ext cx="85725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текстуры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–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DXT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/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JPEG/ etc.</a:t>
            </a: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звуки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–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mp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3, </a:t>
            </a:r>
            <a:r>
              <a:rPr lang="en-US" sz="28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ogg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все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остальное -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ZLIB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,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LZW etc</a:t>
            </a:r>
          </a:p>
          <a:p>
            <a:pPr>
              <a:buFontTx/>
              <a:buChar char="-"/>
            </a:pP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Пример.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Чтение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:12 Mb/s,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Распаковка: 30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Mb/s, Compression rate: 0.6</a:t>
            </a:r>
          </a:p>
          <a:p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Скорость чтения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: 14.3Mb/s</a:t>
            </a:r>
          </a:p>
          <a:p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При параллельной распаковке: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20Mb/s</a:t>
            </a: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Documents and Settings\mobile\Local Settings\Temporary Internet Files\Content.IE5\WV6ZOJ4D\MPj0406815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Xenus</a:t>
            </a:r>
            <a:r>
              <a:rPr lang="ru-RU" sz="44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2</a:t>
            </a:r>
            <a:r>
              <a:rPr lang="en-US" sz="44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. </a:t>
            </a:r>
            <a:r>
              <a:rPr lang="ru-RU" sz="44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Стратегия </a:t>
            </a:r>
            <a:r>
              <a:rPr lang="ru-RU" sz="44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загрузки</a:t>
            </a:r>
            <a:endParaRPr lang="ru-RU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164134"/>
            <a:ext cx="80724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При приближении к зоне:</a:t>
            </a:r>
          </a:p>
          <a:p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- </a:t>
            </a:r>
            <a:r>
              <a:rPr lang="ru-RU" sz="2800" dirty="0" smtClean="0">
                <a:solidFill>
                  <a:schemeClr val="bg1"/>
                </a:solidFill>
                <a:latin typeface="Arial Narrow" pitchFamily="34" charset="0"/>
              </a:rPr>
              <a:t>загружается </a:t>
            </a:r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геометрия уровня, </a:t>
            </a:r>
            <a:r>
              <a:rPr lang="en-US" sz="2800" dirty="0">
                <a:solidFill>
                  <a:schemeClr val="bg1"/>
                </a:solidFill>
                <a:latin typeface="Arial Narrow" pitchFamily="34" charset="0"/>
              </a:rPr>
              <a:t>collision mesh</a:t>
            </a:r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, свойста </a:t>
            </a:r>
            <a:r>
              <a:rPr lang="ru-RU" sz="2800" dirty="0" smtClean="0">
                <a:solidFill>
                  <a:schemeClr val="bg1"/>
                </a:solidFill>
                <a:latin typeface="Arial Narrow" pitchFamily="34" charset="0"/>
              </a:rPr>
              <a:t>объектов</a:t>
            </a:r>
            <a:endParaRPr lang="ru-RU" sz="2800" dirty="0">
              <a:solidFill>
                <a:schemeClr val="bg1"/>
              </a:solidFill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 </a:t>
            </a:r>
          </a:p>
          <a:p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По надобности</a:t>
            </a:r>
            <a:r>
              <a:rPr lang="ru-RU" sz="2800" dirty="0" smtClean="0">
                <a:solidFill>
                  <a:schemeClr val="bg1"/>
                </a:solidFill>
                <a:latin typeface="Arial Narrow" pitchFamily="34" charset="0"/>
              </a:rPr>
              <a:t>: </a:t>
            </a:r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текстуры, модели, звуки, </a:t>
            </a:r>
            <a:r>
              <a:rPr lang="ru-RU" sz="2800" dirty="0" smtClean="0">
                <a:solidFill>
                  <a:schemeClr val="bg1"/>
                </a:solidFill>
                <a:latin typeface="Arial Narrow" pitchFamily="34" charset="0"/>
              </a:rPr>
              <a:t>музыка</a:t>
            </a:r>
            <a:endParaRPr lang="ru-RU" sz="2800" dirty="0">
              <a:solidFill>
                <a:schemeClr val="bg1"/>
              </a:solidFill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 </a:t>
            </a:r>
          </a:p>
          <a:p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Эвристики</a:t>
            </a:r>
            <a:r>
              <a:rPr lang="ru-RU" sz="2800" dirty="0" smtClean="0">
                <a:solidFill>
                  <a:schemeClr val="bg1"/>
                </a:solidFill>
                <a:latin typeface="Arial Narrow" pitchFamily="34" charset="0"/>
              </a:rPr>
              <a:t>: </a:t>
            </a:r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зависимость ресурсов (автомобить + взорванный автомобиль</a:t>
            </a:r>
            <a:r>
              <a:rPr lang="ru-RU" sz="2800" dirty="0" smtClean="0">
                <a:solidFill>
                  <a:schemeClr val="bg1"/>
                </a:solidFill>
                <a:latin typeface="Arial Narrow" pitchFamily="34" charset="0"/>
              </a:rPr>
              <a:t>)</a:t>
            </a:r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, </a:t>
            </a:r>
            <a:r>
              <a:rPr lang="ru-RU" sz="2800" dirty="0" smtClean="0">
                <a:solidFill>
                  <a:schemeClr val="bg1"/>
                </a:solidFill>
                <a:latin typeface="Arial Narrow" pitchFamily="34" charset="0"/>
              </a:rPr>
              <a:t>модель уружия – модель гильз и т.д.</a:t>
            </a:r>
            <a:endParaRPr lang="ru-RU" sz="2800" dirty="0">
              <a:solidFill>
                <a:schemeClr val="bg1"/>
              </a:solidFill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 </a:t>
            </a:r>
          </a:p>
          <a:p>
            <a:r>
              <a:rPr lang="ru-RU" sz="2800" dirty="0">
                <a:solidFill>
                  <a:schemeClr val="bg1"/>
                </a:solidFill>
                <a:latin typeface="Arial Narrow" pitchFamily="34" charset="0"/>
              </a:rPr>
              <a:t>Некоторые ресурсы всегда в памяти (шейдеры, строки, описания объектов, диалоги, текстуры </a:t>
            </a:r>
            <a:r>
              <a:rPr lang="en-US" sz="2800" dirty="0">
                <a:solidFill>
                  <a:schemeClr val="bg1"/>
                </a:solidFill>
                <a:latin typeface="Arial Narrow" pitchFamily="34" charset="0"/>
              </a:rPr>
              <a:t>HUD</a:t>
            </a:r>
            <a:r>
              <a:rPr lang="ru-RU" sz="2800" dirty="0" smtClean="0">
                <a:solidFill>
                  <a:schemeClr val="bg1"/>
                </a:solidFill>
                <a:latin typeface="Arial Narrow" pitchFamily="34" charset="0"/>
              </a:rPr>
              <a:t>)</a:t>
            </a:r>
            <a:endParaRPr lang="ru-RU" sz="28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mobile\Local Settings\Temporary Internet Files\Content.IE5\M5GLQHG7\MPj0399083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Минимизация </a:t>
            </a:r>
            <a:r>
              <a:rPr lang="en-US" sz="4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Seek</a:t>
            </a:r>
            <a:endParaRPr lang="ru-RU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428736"/>
            <a:ext cx="857256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групповые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файлы (100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Mb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- 2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GB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)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минимизация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расстояний между зависимыми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файлами: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 lvl="1"/>
            <a:r>
              <a:rPr lang="ru-RU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группировка </a:t>
            </a:r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файлов по типам(текстуры, модели, уровни</a:t>
            </a:r>
            <a:r>
              <a:rPr lang="ru-RU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)</a:t>
            </a:r>
            <a:endParaRPr lang="en-US" sz="2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 lvl="1"/>
            <a:endParaRPr lang="ru-RU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 lvl="1"/>
            <a:r>
              <a:rPr lang="ru-RU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генерация графа со связями между файлами (текстура-текстура (в пределах модели), модель-модель(в пределах зоны),  модель-модель (зависимые модели), звук-звук (в пределах зоны) и т.д</a:t>
            </a:r>
            <a:r>
              <a:rPr lang="ru-RU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.</a:t>
            </a:r>
            <a:endParaRPr lang="en-US" sz="2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 lvl="1"/>
            <a:endParaRPr lang="ru-RU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 lvl="1"/>
            <a:r>
              <a:rPr lang="ru-RU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чем сильнее связь, тем ближе должны быть </a:t>
            </a:r>
            <a:r>
              <a:rPr lang="ru-RU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файлы</a:t>
            </a:r>
            <a:endParaRPr lang="en-US" sz="2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 lvl="1"/>
            <a:endParaRPr lang="ru-RU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 lvl="1"/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o</a:t>
            </a:r>
            <a:r>
              <a:rPr lang="ru-RU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ценочная </a:t>
            </a:r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функция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:  S = E (k*distance(f1,f2))^2</a:t>
            </a:r>
            <a:endParaRPr lang="ru-RU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Documents and Settings\mobile\Local Settings\Temporary Internet Files\Content.IE5\WV6ZOJ4D\MPj04068150000[1].jpg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85728"/>
            <a:ext cx="8358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Минимизация оценочной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20" y="1357298"/>
            <a:ext cx="82868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~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5000 узлов в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графе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генетический алгоритм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вставка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дубликатов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для оптимизации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 2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2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4 </a:t>
            </a:r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часа на один групповой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файл</a:t>
            </a:r>
            <a:endParaRPr lang="en-US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pPr>
              <a:buFontTx/>
              <a:buChar char="-"/>
            </a:pPr>
            <a:endParaRPr lang="ru-RU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 решение может быть сохранено в отдельный файл, и использовано много раз для построения оптимизированных групповых </a:t>
            </a:r>
            <a:r>
              <a:rPr lang="ru-RU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файлов</a:t>
            </a:r>
            <a:endParaRPr lang="ru-RU" sz="28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Arial Unicode MS" pitchFamily="34" charset="-128"/>
              <a:cs typeface="Tunga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Documents and Settings\mobile\Local Settings\Temporary Internet Files\Content.IE5\WV6ZOJ4D\MPj04019760000[1].jpg"/>
          <p:cNvPicPr>
            <a:picLocks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lum bright="-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142852"/>
            <a:ext cx="835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Вопросы?</a:t>
            </a:r>
            <a:endParaRPr lang="ru-RU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071546"/>
            <a:ext cx="84296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Highly Detailed Continuous Worlds: Streaming Game Resources From Slow Media</a:t>
            </a:r>
            <a:endParaRPr lang="ru-RU" sz="21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1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hlinkClick r:id="rId4"/>
              </a:rPr>
              <a:t>http://www.gamasutra.com/features/gdcarchive/2003/Denman_Stu.ppt</a:t>
            </a:r>
            <a:endParaRPr lang="ru-RU" sz="2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en-US" sz="21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1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Streaming for Next Generation Games</a:t>
            </a:r>
            <a:endParaRPr lang="ru-RU" sz="21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1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hlinkClick r:id="rId5"/>
              </a:rPr>
              <a:t>http://www.gamasutra.com/view/feature/1769/streaming_for_next_generation_games.php?print=1</a:t>
            </a:r>
            <a:endParaRPr lang="ru-RU" sz="2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en-US" sz="21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1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It’s Still Loading?</a:t>
            </a:r>
          </a:p>
          <a:p>
            <a:r>
              <a:rPr lang="en-US" sz="21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hlinkClick r:id="rId6"/>
              </a:rPr>
              <a:t>http://www.drizzle.com/~scottb/gdc/its-still-loading.ppt</a:t>
            </a:r>
            <a:endParaRPr lang="ru-RU" sz="21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endParaRPr lang="en-US" sz="21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1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PS3 </a:t>
            </a:r>
            <a:r>
              <a:rPr lang="en-US" sz="2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Oblivion Seeing Double To Counteract </a:t>
            </a:r>
            <a:r>
              <a:rPr lang="en-US" sz="21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Blu</a:t>
            </a:r>
            <a:r>
              <a:rPr lang="en-US" sz="2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-Ray</a:t>
            </a:r>
            <a:endParaRPr lang="ru-RU" sz="2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hlinkClick r:id="rId7"/>
              </a:rPr>
              <a:t>http://www.gamesetwatch.com/2007/01/ps3_oblivion_seeing_double_to.php</a:t>
            </a:r>
            <a:endParaRPr lang="ru-RU" sz="2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ru-RU" sz="2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 </a:t>
            </a:r>
          </a:p>
          <a:p>
            <a:r>
              <a:rPr lang="en-US" sz="21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Blog debate: PS3 to load games slower than the Xbox 360</a:t>
            </a:r>
            <a:endParaRPr lang="ru-RU" sz="21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en-US" sz="21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hlinkClick r:id="rId8"/>
              </a:rPr>
              <a:t>http://www.joystiq.com/2006/09/04/ps3-to-load-games-slower-than-the-xbox-360/2</a:t>
            </a:r>
            <a:endParaRPr lang="ru-RU" sz="2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8457</TotalTime>
  <Words>1326</Words>
  <Application>Microsoft Office PowerPoint</Application>
  <PresentationFormat>On-screen Show (4:3)</PresentationFormat>
  <Paragraphs>318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LUT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mobile</dc:creator>
  <cp:lastModifiedBy>mobile</cp:lastModifiedBy>
  <cp:revision>85</cp:revision>
  <dcterms:created xsi:type="dcterms:W3CDTF">2008-01-27T17:52:32Z</dcterms:created>
  <dcterms:modified xsi:type="dcterms:W3CDTF">2008-07-19T21:47:45Z</dcterms:modified>
</cp:coreProperties>
</file>